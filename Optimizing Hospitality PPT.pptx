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Hotels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t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Bengaluru</c:v>
                </c:pt>
                <c:pt idx="1">
                  <c:v>New Delhi</c:v>
                </c:pt>
                <c:pt idx="2">
                  <c:v>Mumbai</c:v>
                </c:pt>
                <c:pt idx="3">
                  <c:v>Chennai</c:v>
                </c:pt>
                <c:pt idx="4">
                  <c:v>Hyderabad</c:v>
                </c:pt>
                <c:pt idx="5">
                  <c:v>Kolkata</c:v>
                </c:pt>
                <c:pt idx="6">
                  <c:v>Pune</c:v>
                </c:pt>
                <c:pt idx="7">
                  <c:v>Ahmedabad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1215</c:v>
                </c:pt>
                <c:pt idx="1">
                  <c:v>1136</c:v>
                </c:pt>
                <c:pt idx="2">
                  <c:v>1019</c:v>
                </c:pt>
                <c:pt idx="3">
                  <c:v>696</c:v>
                </c:pt>
                <c:pt idx="4">
                  <c:v>646</c:v>
                </c:pt>
                <c:pt idx="5">
                  <c:v>642</c:v>
                </c:pt>
                <c:pt idx="6">
                  <c:v>636</c:v>
                </c:pt>
                <c:pt idx="7">
                  <c:v>565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9F9-4A50-A8DB-841388C6E8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100"/>
        <c:axId val="1129837792"/>
        <c:axId val="1129841152"/>
      </c:barChart>
      <c:catAx>
        <c:axId val="11298377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9841152"/>
        <c:crosses val="autoZero"/>
        <c:auto val="1"/>
        <c:lblAlgn val="ctr"/>
        <c:lblOffset val="100"/>
        <c:noMultiLvlLbl val="0"/>
      </c:catAx>
      <c:valAx>
        <c:axId val="11298411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98377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Market Share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Total Hotels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70E-4620-9D49-0C9068E3494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70E-4620-9D49-0C9068E3494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70E-4620-9D49-0C9068E3494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70E-4620-9D49-0C9068E34942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Bengaluru</c:v>
                </c:pt>
                <c:pt idx="1">
                  <c:v>New Delhi</c:v>
                </c:pt>
                <c:pt idx="2">
                  <c:v>Mumbai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1215</c:v>
                </c:pt>
                <c:pt idx="1">
                  <c:v>1136</c:v>
                </c:pt>
                <c:pt idx="2">
                  <c:v>1019</c:v>
                </c:pt>
                <c:pt idx="3">
                  <c:v>3185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E5-4235-9010-737076246E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767212106299212"/>
          <c:y val="8.73689410405004E-2"/>
          <c:w val="0.84258575295275595"/>
          <c:h val="0.81503882003773487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of Price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Mumbai</c:v>
                </c:pt>
                <c:pt idx="1">
                  <c:v>Bengaluru</c:v>
                </c:pt>
                <c:pt idx="2">
                  <c:v>Hyderabad</c:v>
                </c:pt>
                <c:pt idx="3">
                  <c:v>New Delhi</c:v>
                </c:pt>
                <c:pt idx="4">
                  <c:v>Pune</c:v>
                </c:pt>
                <c:pt idx="5">
                  <c:v>Chennai</c:v>
                </c:pt>
                <c:pt idx="6">
                  <c:v>Ahmedabad</c:v>
                </c:pt>
                <c:pt idx="7">
                  <c:v>Kolkata</c:v>
                </c:pt>
              </c:strCache>
            </c:strRef>
          </c:cat>
          <c:val>
            <c:numRef>
              <c:f>Sheet1!$B$2:$B$9</c:f>
              <c:numCache>
                <c:formatCode>0</c:formatCode>
                <c:ptCount val="8"/>
                <c:pt idx="0">
                  <c:v>5284</c:v>
                </c:pt>
                <c:pt idx="1">
                  <c:v>3939</c:v>
                </c:pt>
                <c:pt idx="2">
                  <c:v>3762</c:v>
                </c:pt>
                <c:pt idx="3">
                  <c:v>3683</c:v>
                </c:pt>
                <c:pt idx="4">
                  <c:v>3588</c:v>
                </c:pt>
                <c:pt idx="5">
                  <c:v>3576</c:v>
                </c:pt>
                <c:pt idx="6">
                  <c:v>3384</c:v>
                </c:pt>
                <c:pt idx="7">
                  <c:v>2672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13E-41E3-BA52-65469246A5A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168550208"/>
        <c:axId val="1168546848"/>
      </c:barChart>
      <c:catAx>
        <c:axId val="11685502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8546848"/>
        <c:crosses val="autoZero"/>
        <c:auto val="1"/>
        <c:lblAlgn val="ctr"/>
        <c:lblOffset val="100"/>
        <c:noMultiLvlLbl val="0"/>
      </c:catAx>
      <c:valAx>
        <c:axId val="116854684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85502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2"/>
                <c:pt idx="0">
                  <c:v>Rated</c:v>
                </c:pt>
                <c:pt idx="1">
                  <c:v>Unrated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4350</c:v>
                </c:pt>
                <c:pt idx="1">
                  <c:v>2577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1C-4115-8ED5-E08DA814B1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68488159"/>
        <c:axId val="1668504959"/>
      </c:barChart>
      <c:catAx>
        <c:axId val="16684881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8504959"/>
        <c:crosses val="autoZero"/>
        <c:auto val="1"/>
        <c:lblAlgn val="ctr"/>
        <c:lblOffset val="100"/>
        <c:noMultiLvlLbl val="0"/>
      </c:catAx>
      <c:valAx>
        <c:axId val="1668504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684881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5.3265748031496064E-2"/>
          <c:y val="0.29287498198357642"/>
          <c:w val="0.69153348262418712"/>
          <c:h val="0.64030470962692487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Rating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Sheet1!$A$4</c:f>
              <c:numCache>
                <c:formatCode>General</c:formatCode>
                <c:ptCount val="1"/>
                <c:pt idx="0">
                  <c:v>3576.1795977011402</c:v>
                </c:pt>
              </c:numCache>
            </c:numRef>
          </c:xVal>
          <c:yVal>
            <c:numRef>
              <c:f>Sheet1!$B$4</c:f>
              <c:numCache>
                <c:formatCode>General</c:formatCode>
                <c:ptCount val="1"/>
                <c:pt idx="0">
                  <c:v>7.71428571428571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1B47-48B8-BC7C-6269CFAE041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Sum of Reviews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Sheet1!$A$4</c:f>
              <c:numCache>
                <c:formatCode>General</c:formatCode>
                <c:ptCount val="1"/>
                <c:pt idx="0">
                  <c:v>3576.1795977011402</c:v>
                </c:pt>
              </c:numCache>
            </c:numRef>
          </c:xVal>
          <c:yVal>
            <c:numRef>
              <c:f>Sheet1!$C$4</c:f>
              <c:numCache>
                <c:formatCode>General</c:formatCode>
                <c:ptCount val="1"/>
                <c:pt idx="0">
                  <c:v>1155140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1B47-48B8-BC7C-6269CFAE041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City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xVal>
            <c:numRef>
              <c:f>Sheet1!$A$4</c:f>
              <c:numCache>
                <c:formatCode>General</c:formatCode>
                <c:ptCount val="1"/>
                <c:pt idx="0">
                  <c:v>3576.1795977011402</c:v>
                </c:pt>
              </c:numCache>
            </c:numRef>
          </c:xVal>
          <c:yVal>
            <c:numRef>
              <c:f>Sheet1!$D$4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1B47-48B8-BC7C-6269CFAE04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7568335"/>
        <c:axId val="1905572495"/>
      </c:scatterChart>
      <c:valAx>
        <c:axId val="8756833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5572495"/>
        <c:crosses val="autoZero"/>
        <c:crossBetween val="midCat"/>
      </c:valAx>
      <c:valAx>
        <c:axId val="19055724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7568335"/>
        <c:crosses val="autoZero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F14336-B08E-446D-8A90-5A022A9906B0}" type="doc">
      <dgm:prSet loTypeId="urn:microsoft.com/office/officeart/2005/8/layout/process4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57010856-AADA-4ABD-A6D5-7C8AD39E8AC8}">
      <dgm:prSet/>
      <dgm:spPr/>
      <dgm:t>
        <a:bodyPr/>
        <a:lstStyle/>
        <a:p>
          <a:r>
            <a:rPr lang="en-IN" dirty="0" err="1"/>
            <a:t>Analyze</a:t>
          </a:r>
          <a:r>
            <a:rPr lang="en-IN" dirty="0"/>
            <a:t> Customer Sentiment: Identifying regional values (service vs. cleanliness).</a:t>
          </a:r>
        </a:p>
      </dgm:t>
    </dgm:pt>
    <dgm:pt modelId="{351C93D3-94FF-41A0-B9AD-ACE3F782DFD2}" type="parTrans" cxnId="{C239548F-DA4C-499F-94C3-ED089FA39AF3}">
      <dgm:prSet/>
      <dgm:spPr/>
      <dgm:t>
        <a:bodyPr/>
        <a:lstStyle/>
        <a:p>
          <a:endParaRPr lang="en-IN"/>
        </a:p>
      </dgm:t>
    </dgm:pt>
    <dgm:pt modelId="{F2B4B6AF-A01A-4CA1-BDF2-605BA8D5E292}" type="sibTrans" cxnId="{C239548F-DA4C-499F-94C3-ED089FA39AF3}">
      <dgm:prSet/>
      <dgm:spPr/>
      <dgm:t>
        <a:bodyPr/>
        <a:lstStyle/>
        <a:p>
          <a:endParaRPr lang="en-IN"/>
        </a:p>
      </dgm:t>
    </dgm:pt>
    <dgm:pt modelId="{D40A1EFD-3D01-476A-BAA6-A4260C15B201}">
      <dgm:prSet/>
      <dgm:spPr/>
      <dgm:t>
        <a:bodyPr/>
        <a:lstStyle/>
        <a:p>
          <a:r>
            <a:rPr lang="en-IN"/>
            <a:t>Find the Pricing 'Sweet Spot': Correlating nightly rates with guest satisfaction.</a:t>
          </a:r>
        </a:p>
      </dgm:t>
    </dgm:pt>
    <dgm:pt modelId="{725A2815-0A01-4D3F-A9F5-662EEAD212C3}" type="parTrans" cxnId="{9B9BE33E-38B0-44C6-AA6C-2C18BD37B40C}">
      <dgm:prSet/>
      <dgm:spPr/>
      <dgm:t>
        <a:bodyPr/>
        <a:lstStyle/>
        <a:p>
          <a:endParaRPr lang="en-IN"/>
        </a:p>
      </dgm:t>
    </dgm:pt>
    <dgm:pt modelId="{1F349844-7147-4803-A30C-AA58F77D8213}" type="sibTrans" cxnId="{9B9BE33E-38B0-44C6-AA6C-2C18BD37B40C}">
      <dgm:prSet/>
      <dgm:spPr/>
      <dgm:t>
        <a:bodyPr/>
        <a:lstStyle/>
        <a:p>
          <a:endParaRPr lang="en-IN"/>
        </a:p>
      </dgm:t>
    </dgm:pt>
    <dgm:pt modelId="{34A584A4-45BA-4D90-840C-D08DA3C08047}">
      <dgm:prSet/>
      <dgm:spPr/>
      <dgm:t>
        <a:bodyPr/>
        <a:lstStyle/>
        <a:p>
          <a:r>
            <a:rPr lang="en-IN" dirty="0"/>
            <a:t>Regional Patterns: Focusing on Tier 1 economic hubs to identify growth trends.</a:t>
          </a:r>
        </a:p>
      </dgm:t>
    </dgm:pt>
    <dgm:pt modelId="{56D81A9D-49A9-43C9-A84A-43D533DFF672}" type="parTrans" cxnId="{2D8BD59A-25EA-4652-9C05-384CE4972C6F}">
      <dgm:prSet/>
      <dgm:spPr/>
      <dgm:t>
        <a:bodyPr/>
        <a:lstStyle/>
        <a:p>
          <a:endParaRPr lang="en-IN"/>
        </a:p>
      </dgm:t>
    </dgm:pt>
    <dgm:pt modelId="{44648DE5-F70E-49B1-A9FD-7737678B3A45}" type="sibTrans" cxnId="{2D8BD59A-25EA-4652-9C05-384CE4972C6F}">
      <dgm:prSet/>
      <dgm:spPr/>
      <dgm:t>
        <a:bodyPr/>
        <a:lstStyle/>
        <a:p>
          <a:endParaRPr lang="en-IN"/>
        </a:p>
      </dgm:t>
    </dgm:pt>
    <dgm:pt modelId="{B5DFDDDD-295F-449C-9B01-A07BA5372581}" type="pres">
      <dgm:prSet presAssocID="{08F14336-B08E-446D-8A90-5A022A9906B0}" presName="Name0" presStyleCnt="0">
        <dgm:presLayoutVars>
          <dgm:dir/>
          <dgm:animLvl val="lvl"/>
          <dgm:resizeHandles val="exact"/>
        </dgm:presLayoutVars>
      </dgm:prSet>
      <dgm:spPr/>
    </dgm:pt>
    <dgm:pt modelId="{2F745664-E899-4B9E-B998-4B46B86F98A2}" type="pres">
      <dgm:prSet presAssocID="{34A584A4-45BA-4D90-840C-D08DA3C08047}" presName="boxAndChildren" presStyleCnt="0"/>
      <dgm:spPr/>
    </dgm:pt>
    <dgm:pt modelId="{A4F3BFDD-0472-46AF-9091-BEECF1ADF83E}" type="pres">
      <dgm:prSet presAssocID="{34A584A4-45BA-4D90-840C-D08DA3C08047}" presName="parentTextBox" presStyleLbl="node1" presStyleIdx="0" presStyleCnt="3"/>
      <dgm:spPr/>
    </dgm:pt>
    <dgm:pt modelId="{3ADD1AB2-5A56-461A-97D8-F8534CFB5A64}" type="pres">
      <dgm:prSet presAssocID="{1F349844-7147-4803-A30C-AA58F77D8213}" presName="sp" presStyleCnt="0"/>
      <dgm:spPr/>
    </dgm:pt>
    <dgm:pt modelId="{40115369-2935-4ECC-B809-08AD0BDD6367}" type="pres">
      <dgm:prSet presAssocID="{D40A1EFD-3D01-476A-BAA6-A4260C15B201}" presName="arrowAndChildren" presStyleCnt="0"/>
      <dgm:spPr/>
    </dgm:pt>
    <dgm:pt modelId="{D31A0174-3B23-4BAC-8387-9BE29D044EAD}" type="pres">
      <dgm:prSet presAssocID="{D40A1EFD-3D01-476A-BAA6-A4260C15B201}" presName="parentTextArrow" presStyleLbl="node1" presStyleIdx="1" presStyleCnt="3"/>
      <dgm:spPr/>
    </dgm:pt>
    <dgm:pt modelId="{DD1D0E15-D0DC-4C78-942B-D0753676A49C}" type="pres">
      <dgm:prSet presAssocID="{F2B4B6AF-A01A-4CA1-BDF2-605BA8D5E292}" presName="sp" presStyleCnt="0"/>
      <dgm:spPr/>
    </dgm:pt>
    <dgm:pt modelId="{3CAB50E5-C188-454B-97D1-1BCFCDDA388E}" type="pres">
      <dgm:prSet presAssocID="{57010856-AADA-4ABD-A6D5-7C8AD39E8AC8}" presName="arrowAndChildren" presStyleCnt="0"/>
      <dgm:spPr/>
    </dgm:pt>
    <dgm:pt modelId="{5B88060D-BED3-4CF5-A448-AB8EF79B26D6}" type="pres">
      <dgm:prSet presAssocID="{57010856-AADA-4ABD-A6D5-7C8AD39E8AC8}" presName="parentTextArrow" presStyleLbl="node1" presStyleIdx="2" presStyleCnt="3"/>
      <dgm:spPr/>
    </dgm:pt>
  </dgm:ptLst>
  <dgm:cxnLst>
    <dgm:cxn modelId="{C4B40B1C-C4E7-47DD-81D3-8948CF09D8AF}" type="presOf" srcId="{D40A1EFD-3D01-476A-BAA6-A4260C15B201}" destId="{D31A0174-3B23-4BAC-8387-9BE29D044EAD}" srcOrd="0" destOrd="0" presId="urn:microsoft.com/office/officeart/2005/8/layout/process4"/>
    <dgm:cxn modelId="{9B9BE33E-38B0-44C6-AA6C-2C18BD37B40C}" srcId="{08F14336-B08E-446D-8A90-5A022A9906B0}" destId="{D40A1EFD-3D01-476A-BAA6-A4260C15B201}" srcOrd="1" destOrd="0" parTransId="{725A2815-0A01-4D3F-A9F5-662EEAD212C3}" sibTransId="{1F349844-7147-4803-A30C-AA58F77D8213}"/>
    <dgm:cxn modelId="{B256FD55-4A8A-4096-BFDC-45B7ABF09833}" type="presOf" srcId="{08F14336-B08E-446D-8A90-5A022A9906B0}" destId="{B5DFDDDD-295F-449C-9B01-A07BA5372581}" srcOrd="0" destOrd="0" presId="urn:microsoft.com/office/officeart/2005/8/layout/process4"/>
    <dgm:cxn modelId="{C239548F-DA4C-499F-94C3-ED089FA39AF3}" srcId="{08F14336-B08E-446D-8A90-5A022A9906B0}" destId="{57010856-AADA-4ABD-A6D5-7C8AD39E8AC8}" srcOrd="0" destOrd="0" parTransId="{351C93D3-94FF-41A0-B9AD-ACE3F782DFD2}" sibTransId="{F2B4B6AF-A01A-4CA1-BDF2-605BA8D5E292}"/>
    <dgm:cxn modelId="{2D8BD59A-25EA-4652-9C05-384CE4972C6F}" srcId="{08F14336-B08E-446D-8A90-5A022A9906B0}" destId="{34A584A4-45BA-4D90-840C-D08DA3C08047}" srcOrd="2" destOrd="0" parTransId="{56D81A9D-49A9-43C9-A84A-43D533DFF672}" sibTransId="{44648DE5-F70E-49B1-A9FD-7737678B3A45}"/>
    <dgm:cxn modelId="{C9CF1FE8-5823-462D-B05E-6215D2CFE43F}" type="presOf" srcId="{57010856-AADA-4ABD-A6D5-7C8AD39E8AC8}" destId="{5B88060D-BED3-4CF5-A448-AB8EF79B26D6}" srcOrd="0" destOrd="0" presId="urn:microsoft.com/office/officeart/2005/8/layout/process4"/>
    <dgm:cxn modelId="{73664EED-F224-4B39-BEAD-4EE527336426}" type="presOf" srcId="{34A584A4-45BA-4D90-840C-D08DA3C08047}" destId="{A4F3BFDD-0472-46AF-9091-BEECF1ADF83E}" srcOrd="0" destOrd="0" presId="urn:microsoft.com/office/officeart/2005/8/layout/process4"/>
    <dgm:cxn modelId="{F93BE02D-4ECC-4CAC-A7E3-BE2347175E59}" type="presParOf" srcId="{B5DFDDDD-295F-449C-9B01-A07BA5372581}" destId="{2F745664-E899-4B9E-B998-4B46B86F98A2}" srcOrd="0" destOrd="0" presId="urn:microsoft.com/office/officeart/2005/8/layout/process4"/>
    <dgm:cxn modelId="{CD6214A1-42C4-46D4-B87E-CD609688D7CA}" type="presParOf" srcId="{2F745664-E899-4B9E-B998-4B46B86F98A2}" destId="{A4F3BFDD-0472-46AF-9091-BEECF1ADF83E}" srcOrd="0" destOrd="0" presId="urn:microsoft.com/office/officeart/2005/8/layout/process4"/>
    <dgm:cxn modelId="{0D42E2DE-32BD-4CD8-98BB-5D23F2C2BD65}" type="presParOf" srcId="{B5DFDDDD-295F-449C-9B01-A07BA5372581}" destId="{3ADD1AB2-5A56-461A-97D8-F8534CFB5A64}" srcOrd="1" destOrd="0" presId="urn:microsoft.com/office/officeart/2005/8/layout/process4"/>
    <dgm:cxn modelId="{65DC6874-3FD6-4690-A76F-94F0501ECBF7}" type="presParOf" srcId="{B5DFDDDD-295F-449C-9B01-A07BA5372581}" destId="{40115369-2935-4ECC-B809-08AD0BDD6367}" srcOrd="2" destOrd="0" presId="urn:microsoft.com/office/officeart/2005/8/layout/process4"/>
    <dgm:cxn modelId="{68E62AFA-69CB-4B34-BCF7-623E76F3C5CE}" type="presParOf" srcId="{40115369-2935-4ECC-B809-08AD0BDD6367}" destId="{D31A0174-3B23-4BAC-8387-9BE29D044EAD}" srcOrd="0" destOrd="0" presId="urn:microsoft.com/office/officeart/2005/8/layout/process4"/>
    <dgm:cxn modelId="{C10EE79C-9D78-4AE0-81BC-B7274856687E}" type="presParOf" srcId="{B5DFDDDD-295F-449C-9B01-A07BA5372581}" destId="{DD1D0E15-D0DC-4C78-942B-D0753676A49C}" srcOrd="3" destOrd="0" presId="urn:microsoft.com/office/officeart/2005/8/layout/process4"/>
    <dgm:cxn modelId="{4F228648-45CF-467D-A4D4-BAC4B83C2E45}" type="presParOf" srcId="{B5DFDDDD-295F-449C-9B01-A07BA5372581}" destId="{3CAB50E5-C188-454B-97D1-1BCFCDDA388E}" srcOrd="4" destOrd="0" presId="urn:microsoft.com/office/officeart/2005/8/layout/process4"/>
    <dgm:cxn modelId="{DAF92084-9340-4A02-947B-BCEC02FB9E4D}" type="presParOf" srcId="{3CAB50E5-C188-454B-97D1-1BCFCDDA388E}" destId="{5B88060D-BED3-4CF5-A448-AB8EF79B26D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C20C61E-78C4-4916-B15E-3926756EB500}" type="doc">
      <dgm:prSet loTypeId="urn:microsoft.com/office/officeart/2005/8/layout/vList3" loCatId="list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1177004-064C-427B-BEEF-F88F2404E7AF}">
      <dgm:prSet/>
      <dgm:spPr/>
      <dgm:t>
        <a:bodyPr/>
        <a:lstStyle/>
        <a:p>
          <a:r>
            <a:rPr lang="en-IN"/>
            <a:t>Python &amp; Selenium: Custom scraper built to handle 'lazy loading' and AJAX content.</a:t>
          </a:r>
        </a:p>
      </dgm:t>
    </dgm:pt>
    <dgm:pt modelId="{9BD08A2B-BCE9-4311-9516-B74FCF954459}" type="parTrans" cxnId="{50D2CB0B-DCCB-4C84-A36A-27D0AFAEBFBE}">
      <dgm:prSet/>
      <dgm:spPr/>
      <dgm:t>
        <a:bodyPr/>
        <a:lstStyle/>
        <a:p>
          <a:endParaRPr lang="en-IN"/>
        </a:p>
      </dgm:t>
    </dgm:pt>
    <dgm:pt modelId="{0AE9CE86-D187-4CC1-B976-567BCFB216A1}" type="sibTrans" cxnId="{50D2CB0B-DCCB-4C84-A36A-27D0AFAEBFBE}">
      <dgm:prSet/>
      <dgm:spPr/>
      <dgm:t>
        <a:bodyPr/>
        <a:lstStyle/>
        <a:p>
          <a:endParaRPr lang="en-IN"/>
        </a:p>
      </dgm:t>
    </dgm:pt>
    <dgm:pt modelId="{BFB830BD-B4BE-4060-8E4D-4617D2052AD6}">
      <dgm:prSet/>
      <dgm:spPr/>
      <dgm:t>
        <a:bodyPr/>
        <a:lstStyle/>
        <a:p>
          <a:r>
            <a:rPr lang="en-IN"/>
            <a:t>Data Cleaning: Pandas used for snake_case standardization and duplicate removal.</a:t>
          </a:r>
        </a:p>
      </dgm:t>
    </dgm:pt>
    <dgm:pt modelId="{52F49288-A2C7-441E-9276-3487B2CD1EAE}" type="parTrans" cxnId="{9690E456-870C-4759-AA13-E2267CC5E774}">
      <dgm:prSet/>
      <dgm:spPr/>
      <dgm:t>
        <a:bodyPr/>
        <a:lstStyle/>
        <a:p>
          <a:endParaRPr lang="en-IN"/>
        </a:p>
      </dgm:t>
    </dgm:pt>
    <dgm:pt modelId="{5878B1E1-0904-450E-924F-41E73AC22448}" type="sibTrans" cxnId="{9690E456-870C-4759-AA13-E2267CC5E774}">
      <dgm:prSet/>
      <dgm:spPr/>
      <dgm:t>
        <a:bodyPr/>
        <a:lstStyle/>
        <a:p>
          <a:endParaRPr lang="en-IN"/>
        </a:p>
      </dgm:t>
    </dgm:pt>
    <dgm:pt modelId="{593558FB-B127-43C9-94BF-E6BD06F1BFB3}">
      <dgm:prSet/>
      <dgm:spPr/>
      <dgm:t>
        <a:bodyPr/>
        <a:lstStyle/>
        <a:p>
          <a:r>
            <a:rPr lang="en-IN"/>
            <a:t>Scale: Data scraped for 8 major cities including Mumbai, Bengaluru, and Delhi.</a:t>
          </a:r>
        </a:p>
      </dgm:t>
    </dgm:pt>
    <dgm:pt modelId="{2E09E8B4-4582-4C88-91E6-F64A8542C1EB}" type="parTrans" cxnId="{6ABABD5F-2906-41D5-862E-5512FFDF013E}">
      <dgm:prSet/>
      <dgm:spPr/>
      <dgm:t>
        <a:bodyPr/>
        <a:lstStyle/>
        <a:p>
          <a:endParaRPr lang="en-IN"/>
        </a:p>
      </dgm:t>
    </dgm:pt>
    <dgm:pt modelId="{D1B503F0-0946-4534-99B4-F5C814EE98E3}" type="sibTrans" cxnId="{6ABABD5F-2906-41D5-862E-5512FFDF013E}">
      <dgm:prSet/>
      <dgm:spPr/>
      <dgm:t>
        <a:bodyPr/>
        <a:lstStyle/>
        <a:p>
          <a:endParaRPr lang="en-IN"/>
        </a:p>
      </dgm:t>
    </dgm:pt>
    <dgm:pt modelId="{C6E2AC38-E245-4401-8778-19434EFA8F29}" type="pres">
      <dgm:prSet presAssocID="{FC20C61E-78C4-4916-B15E-3926756EB500}" presName="linearFlow" presStyleCnt="0">
        <dgm:presLayoutVars>
          <dgm:dir/>
          <dgm:resizeHandles val="exact"/>
        </dgm:presLayoutVars>
      </dgm:prSet>
      <dgm:spPr/>
    </dgm:pt>
    <dgm:pt modelId="{DCA42D32-BF8D-4C74-8574-C4AF4BA498D9}" type="pres">
      <dgm:prSet presAssocID="{71177004-064C-427B-BEEF-F88F2404E7AF}" presName="composite" presStyleCnt="0"/>
      <dgm:spPr/>
    </dgm:pt>
    <dgm:pt modelId="{422BDA48-4E1F-499C-A25B-E1CF9C58349B}" type="pres">
      <dgm:prSet presAssocID="{71177004-064C-427B-BEEF-F88F2404E7AF}" presName="imgShp" presStyleLbl="fgImgPlace1" presStyleIdx="0" presStyleCnt="3"/>
      <dgm:spPr>
        <a:blipFill>
          <a:blip xmlns:r="http://schemas.openxmlformats.org/officeDocument/2006/relationships" r:embed="rId1"/>
          <a:srcRect/>
          <a:stretch>
            <a:fillRect l="-28000" r="-28000"/>
          </a:stretch>
        </a:blipFill>
      </dgm:spPr>
    </dgm:pt>
    <dgm:pt modelId="{5F7C7081-F2F2-487B-82C2-317F2066FAE4}" type="pres">
      <dgm:prSet presAssocID="{71177004-064C-427B-BEEF-F88F2404E7AF}" presName="txShp" presStyleLbl="node1" presStyleIdx="0" presStyleCnt="3">
        <dgm:presLayoutVars>
          <dgm:bulletEnabled val="1"/>
        </dgm:presLayoutVars>
      </dgm:prSet>
      <dgm:spPr/>
    </dgm:pt>
    <dgm:pt modelId="{E6E62377-1F95-48F1-8E45-EDCF50BFE60E}" type="pres">
      <dgm:prSet presAssocID="{0AE9CE86-D187-4CC1-B976-567BCFB216A1}" presName="spacing" presStyleCnt="0"/>
      <dgm:spPr/>
    </dgm:pt>
    <dgm:pt modelId="{F2DFC1FA-184D-4779-BF5F-0A3635959409}" type="pres">
      <dgm:prSet presAssocID="{BFB830BD-B4BE-4060-8E4D-4617D2052AD6}" presName="composite" presStyleCnt="0"/>
      <dgm:spPr/>
    </dgm:pt>
    <dgm:pt modelId="{512C610F-88E7-4BE8-AEBB-E3E53211DB34}" type="pres">
      <dgm:prSet presAssocID="{BFB830BD-B4BE-4060-8E4D-4617D2052AD6}" presName="imgShp" presStyleLbl="fgImgPlace1" presStyleIdx="1" presStyleCnt="3"/>
      <dgm:spPr>
        <a:blipFill>
          <a:blip xmlns:r="http://schemas.openxmlformats.org/officeDocument/2006/relationships" r:embed="rId2"/>
          <a:srcRect/>
          <a:stretch>
            <a:fillRect l="-39000" r="-39000"/>
          </a:stretch>
        </a:blipFill>
      </dgm:spPr>
    </dgm:pt>
    <dgm:pt modelId="{D87C9B61-6A06-49AC-BFFF-A82919C403AB}" type="pres">
      <dgm:prSet presAssocID="{BFB830BD-B4BE-4060-8E4D-4617D2052AD6}" presName="txShp" presStyleLbl="node1" presStyleIdx="1" presStyleCnt="3">
        <dgm:presLayoutVars>
          <dgm:bulletEnabled val="1"/>
        </dgm:presLayoutVars>
      </dgm:prSet>
      <dgm:spPr/>
    </dgm:pt>
    <dgm:pt modelId="{CA704E01-36E0-46E0-B4CD-FB4ED777B998}" type="pres">
      <dgm:prSet presAssocID="{5878B1E1-0904-450E-924F-41E73AC22448}" presName="spacing" presStyleCnt="0"/>
      <dgm:spPr/>
    </dgm:pt>
    <dgm:pt modelId="{861FBA4B-037C-41FE-A5A5-EA18BDC83372}" type="pres">
      <dgm:prSet presAssocID="{593558FB-B127-43C9-94BF-E6BD06F1BFB3}" presName="composite" presStyleCnt="0"/>
      <dgm:spPr/>
    </dgm:pt>
    <dgm:pt modelId="{264D55BB-FD04-43A1-818A-B2F56D7AE1F1}" type="pres">
      <dgm:prSet presAssocID="{593558FB-B127-43C9-94BF-E6BD06F1BFB3}" presName="imgShp" presStyleLbl="fgImgPlace1" presStyleIdx="2" presStyleCnt="3"/>
      <dgm:spPr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</dgm:spPr>
    </dgm:pt>
    <dgm:pt modelId="{7A23AADB-077A-47A0-B4BB-6F4B0B2839F1}" type="pres">
      <dgm:prSet presAssocID="{593558FB-B127-43C9-94BF-E6BD06F1BFB3}" presName="txShp" presStyleLbl="node1" presStyleIdx="2" presStyleCnt="3">
        <dgm:presLayoutVars>
          <dgm:bulletEnabled val="1"/>
        </dgm:presLayoutVars>
      </dgm:prSet>
      <dgm:spPr/>
    </dgm:pt>
  </dgm:ptLst>
  <dgm:cxnLst>
    <dgm:cxn modelId="{50D2CB0B-DCCB-4C84-A36A-27D0AFAEBFBE}" srcId="{FC20C61E-78C4-4916-B15E-3926756EB500}" destId="{71177004-064C-427B-BEEF-F88F2404E7AF}" srcOrd="0" destOrd="0" parTransId="{9BD08A2B-BCE9-4311-9516-B74FCF954459}" sibTransId="{0AE9CE86-D187-4CC1-B976-567BCFB216A1}"/>
    <dgm:cxn modelId="{6ABABD5F-2906-41D5-862E-5512FFDF013E}" srcId="{FC20C61E-78C4-4916-B15E-3926756EB500}" destId="{593558FB-B127-43C9-94BF-E6BD06F1BFB3}" srcOrd="2" destOrd="0" parTransId="{2E09E8B4-4582-4C88-91E6-F64A8542C1EB}" sibTransId="{D1B503F0-0946-4534-99B4-F5C814EE98E3}"/>
    <dgm:cxn modelId="{0790E454-6A2B-41D9-8710-AA290B87962A}" type="presOf" srcId="{BFB830BD-B4BE-4060-8E4D-4617D2052AD6}" destId="{D87C9B61-6A06-49AC-BFFF-A82919C403AB}" srcOrd="0" destOrd="0" presId="urn:microsoft.com/office/officeart/2005/8/layout/vList3"/>
    <dgm:cxn modelId="{279C4F55-9F7C-4882-9704-132F3856E471}" type="presOf" srcId="{71177004-064C-427B-BEEF-F88F2404E7AF}" destId="{5F7C7081-F2F2-487B-82C2-317F2066FAE4}" srcOrd="0" destOrd="0" presId="urn:microsoft.com/office/officeart/2005/8/layout/vList3"/>
    <dgm:cxn modelId="{9690E456-870C-4759-AA13-E2267CC5E774}" srcId="{FC20C61E-78C4-4916-B15E-3926756EB500}" destId="{BFB830BD-B4BE-4060-8E4D-4617D2052AD6}" srcOrd="1" destOrd="0" parTransId="{52F49288-A2C7-441E-9276-3487B2CD1EAE}" sibTransId="{5878B1E1-0904-450E-924F-41E73AC22448}"/>
    <dgm:cxn modelId="{E4C4FFB3-A921-49F8-A02C-3A026483FFA5}" type="presOf" srcId="{593558FB-B127-43C9-94BF-E6BD06F1BFB3}" destId="{7A23AADB-077A-47A0-B4BB-6F4B0B2839F1}" srcOrd="0" destOrd="0" presId="urn:microsoft.com/office/officeart/2005/8/layout/vList3"/>
    <dgm:cxn modelId="{FE87F0EE-40C1-418C-B314-D8525D97CE80}" type="presOf" srcId="{FC20C61E-78C4-4916-B15E-3926756EB500}" destId="{C6E2AC38-E245-4401-8778-19434EFA8F29}" srcOrd="0" destOrd="0" presId="urn:microsoft.com/office/officeart/2005/8/layout/vList3"/>
    <dgm:cxn modelId="{2B4EB846-736A-498A-A8D9-3267440C205E}" type="presParOf" srcId="{C6E2AC38-E245-4401-8778-19434EFA8F29}" destId="{DCA42D32-BF8D-4C74-8574-C4AF4BA498D9}" srcOrd="0" destOrd="0" presId="urn:microsoft.com/office/officeart/2005/8/layout/vList3"/>
    <dgm:cxn modelId="{780BA045-3A04-41E9-BD37-156D9DAA27D1}" type="presParOf" srcId="{DCA42D32-BF8D-4C74-8574-C4AF4BA498D9}" destId="{422BDA48-4E1F-499C-A25B-E1CF9C58349B}" srcOrd="0" destOrd="0" presId="urn:microsoft.com/office/officeart/2005/8/layout/vList3"/>
    <dgm:cxn modelId="{C7843317-F00C-45FE-84F6-1D2CAB8DFD8E}" type="presParOf" srcId="{DCA42D32-BF8D-4C74-8574-C4AF4BA498D9}" destId="{5F7C7081-F2F2-487B-82C2-317F2066FAE4}" srcOrd="1" destOrd="0" presId="urn:microsoft.com/office/officeart/2005/8/layout/vList3"/>
    <dgm:cxn modelId="{91D499BD-ABFA-4919-A41C-EAC2FE4CC13F}" type="presParOf" srcId="{C6E2AC38-E245-4401-8778-19434EFA8F29}" destId="{E6E62377-1F95-48F1-8E45-EDCF50BFE60E}" srcOrd="1" destOrd="0" presId="urn:microsoft.com/office/officeart/2005/8/layout/vList3"/>
    <dgm:cxn modelId="{6972694A-EA41-487E-9C49-5F4D6BC35971}" type="presParOf" srcId="{C6E2AC38-E245-4401-8778-19434EFA8F29}" destId="{F2DFC1FA-184D-4779-BF5F-0A3635959409}" srcOrd="2" destOrd="0" presId="urn:microsoft.com/office/officeart/2005/8/layout/vList3"/>
    <dgm:cxn modelId="{2A347E69-A37B-45FC-A688-1B745FEAA8F2}" type="presParOf" srcId="{F2DFC1FA-184D-4779-BF5F-0A3635959409}" destId="{512C610F-88E7-4BE8-AEBB-E3E53211DB34}" srcOrd="0" destOrd="0" presId="urn:microsoft.com/office/officeart/2005/8/layout/vList3"/>
    <dgm:cxn modelId="{9F198151-DDBB-4555-A179-FFC41A0BF370}" type="presParOf" srcId="{F2DFC1FA-184D-4779-BF5F-0A3635959409}" destId="{D87C9B61-6A06-49AC-BFFF-A82919C403AB}" srcOrd="1" destOrd="0" presId="urn:microsoft.com/office/officeart/2005/8/layout/vList3"/>
    <dgm:cxn modelId="{CE30C57A-5993-47E7-A927-B7963C5A4442}" type="presParOf" srcId="{C6E2AC38-E245-4401-8778-19434EFA8F29}" destId="{CA704E01-36E0-46E0-B4CD-FB4ED777B998}" srcOrd="3" destOrd="0" presId="urn:microsoft.com/office/officeart/2005/8/layout/vList3"/>
    <dgm:cxn modelId="{700688D9-87C7-4256-98E8-AF671DB9F2DA}" type="presParOf" srcId="{C6E2AC38-E245-4401-8778-19434EFA8F29}" destId="{861FBA4B-037C-41FE-A5A5-EA18BDC83372}" srcOrd="4" destOrd="0" presId="urn:microsoft.com/office/officeart/2005/8/layout/vList3"/>
    <dgm:cxn modelId="{DF5AEC9C-CD9F-4696-BAC6-0592986D03F3}" type="presParOf" srcId="{861FBA4B-037C-41FE-A5A5-EA18BDC83372}" destId="{264D55BB-FD04-43A1-818A-B2F56D7AE1F1}" srcOrd="0" destOrd="0" presId="urn:microsoft.com/office/officeart/2005/8/layout/vList3"/>
    <dgm:cxn modelId="{D03780CB-E739-4ADA-9037-84CA1E7B448F}" type="presParOf" srcId="{861FBA4B-037C-41FE-A5A5-EA18BDC83372}" destId="{7A23AADB-077A-47A0-B4BB-6F4B0B2839F1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B127A96-4F0D-4C6A-A2BC-5CA4DB2E44BF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D148CB7-BA8F-46BA-B2FE-F8C86410BFB5}">
      <dgm:prSet/>
      <dgm:spPr/>
      <dgm:t>
        <a:bodyPr/>
        <a:lstStyle/>
        <a:p>
          <a:r>
            <a:rPr lang="en-IN"/>
            <a:t>Minimum: 544 INR | Maximum: 70,622 INR.</a:t>
          </a:r>
        </a:p>
      </dgm:t>
    </dgm:pt>
    <dgm:pt modelId="{CF28D3CC-5B7B-4D48-A094-8950E568FECA}" type="parTrans" cxnId="{165BB627-682C-4744-9E36-F64AFD19A981}">
      <dgm:prSet/>
      <dgm:spPr/>
      <dgm:t>
        <a:bodyPr/>
        <a:lstStyle/>
        <a:p>
          <a:endParaRPr lang="en-IN"/>
        </a:p>
      </dgm:t>
    </dgm:pt>
    <dgm:pt modelId="{A8CFF749-E0F3-45AA-AF84-06C3F042489F}" type="sibTrans" cxnId="{165BB627-682C-4744-9E36-F64AFD19A981}">
      <dgm:prSet/>
      <dgm:spPr/>
      <dgm:t>
        <a:bodyPr/>
        <a:lstStyle/>
        <a:p>
          <a:endParaRPr lang="en-IN"/>
        </a:p>
      </dgm:t>
    </dgm:pt>
    <dgm:pt modelId="{A98DEA1E-7DA1-44C8-823D-2E8DCAA0B3EC}">
      <dgm:prSet/>
      <dgm:spPr/>
      <dgm:t>
        <a:bodyPr/>
        <a:lstStyle/>
        <a:p>
          <a:r>
            <a:rPr lang="en-IN"/>
            <a:t>Average Market Price: 3,841 INR.</a:t>
          </a:r>
        </a:p>
      </dgm:t>
    </dgm:pt>
    <dgm:pt modelId="{08BEB2F1-49E1-477C-A528-B0AF67EDF6B1}" type="parTrans" cxnId="{FDC82EBF-BE15-4B41-9AF6-BF85499DBD0E}">
      <dgm:prSet/>
      <dgm:spPr/>
      <dgm:t>
        <a:bodyPr/>
        <a:lstStyle/>
        <a:p>
          <a:endParaRPr lang="en-IN"/>
        </a:p>
      </dgm:t>
    </dgm:pt>
    <dgm:pt modelId="{D31321D5-8A2F-419D-BCEB-86D85396582C}" type="sibTrans" cxnId="{FDC82EBF-BE15-4B41-9AF6-BF85499DBD0E}">
      <dgm:prSet/>
      <dgm:spPr/>
      <dgm:t>
        <a:bodyPr/>
        <a:lstStyle/>
        <a:p>
          <a:endParaRPr lang="en-IN"/>
        </a:p>
      </dgm:t>
    </dgm:pt>
    <dgm:pt modelId="{13EDC944-50D2-4C62-AEBD-B459DE2FC22C}">
      <dgm:prSet/>
      <dgm:spPr/>
      <dgm:t>
        <a:bodyPr/>
        <a:lstStyle/>
        <a:p>
          <a:r>
            <a:rPr lang="en-IN"/>
            <a:t>Median Price: 2,379 INR (indicates a heavily budget-skewed market).</a:t>
          </a:r>
        </a:p>
      </dgm:t>
    </dgm:pt>
    <dgm:pt modelId="{F30B50BD-6D8C-4D8A-BA68-8E25E9C52826}" type="parTrans" cxnId="{7BCE744A-E1C0-43D5-B75D-BAAC5019BC68}">
      <dgm:prSet/>
      <dgm:spPr/>
      <dgm:t>
        <a:bodyPr/>
        <a:lstStyle/>
        <a:p>
          <a:endParaRPr lang="en-IN"/>
        </a:p>
      </dgm:t>
    </dgm:pt>
    <dgm:pt modelId="{27A0462F-D651-4356-843A-F437A647E422}" type="sibTrans" cxnId="{7BCE744A-E1C0-43D5-B75D-BAAC5019BC68}">
      <dgm:prSet/>
      <dgm:spPr/>
      <dgm:t>
        <a:bodyPr/>
        <a:lstStyle/>
        <a:p>
          <a:endParaRPr lang="en-IN"/>
        </a:p>
      </dgm:t>
    </dgm:pt>
    <dgm:pt modelId="{AD83BCDB-38BD-4D54-A9F5-4254E912A38A}" type="pres">
      <dgm:prSet presAssocID="{1B127A96-4F0D-4C6A-A2BC-5CA4DB2E44BF}" presName="compositeShape" presStyleCnt="0">
        <dgm:presLayoutVars>
          <dgm:dir/>
          <dgm:resizeHandles/>
        </dgm:presLayoutVars>
      </dgm:prSet>
      <dgm:spPr/>
    </dgm:pt>
    <dgm:pt modelId="{019DE18C-AECA-40F6-A56A-C2CDF1113254}" type="pres">
      <dgm:prSet presAssocID="{1B127A96-4F0D-4C6A-A2BC-5CA4DB2E44BF}" presName="pyramid" presStyleLbl="node1" presStyleIdx="0" presStyleCnt="1"/>
      <dgm:spPr/>
    </dgm:pt>
    <dgm:pt modelId="{0810D861-38E2-4BE1-B84B-BAD653921FAA}" type="pres">
      <dgm:prSet presAssocID="{1B127A96-4F0D-4C6A-A2BC-5CA4DB2E44BF}" presName="theList" presStyleCnt="0"/>
      <dgm:spPr/>
    </dgm:pt>
    <dgm:pt modelId="{645F8858-98E3-48F8-BF9C-9807FB55764A}" type="pres">
      <dgm:prSet presAssocID="{1D148CB7-BA8F-46BA-B2FE-F8C86410BFB5}" presName="aNode" presStyleLbl="fgAcc1" presStyleIdx="0" presStyleCnt="3">
        <dgm:presLayoutVars>
          <dgm:bulletEnabled val="1"/>
        </dgm:presLayoutVars>
      </dgm:prSet>
      <dgm:spPr/>
    </dgm:pt>
    <dgm:pt modelId="{5FEA6B97-B5D9-46BD-8013-83EFC3FFB7ED}" type="pres">
      <dgm:prSet presAssocID="{1D148CB7-BA8F-46BA-B2FE-F8C86410BFB5}" presName="aSpace" presStyleCnt="0"/>
      <dgm:spPr/>
    </dgm:pt>
    <dgm:pt modelId="{836F06DA-B20D-4D6F-820C-76FB82CB15A2}" type="pres">
      <dgm:prSet presAssocID="{A98DEA1E-7DA1-44C8-823D-2E8DCAA0B3EC}" presName="aNode" presStyleLbl="fgAcc1" presStyleIdx="1" presStyleCnt="3">
        <dgm:presLayoutVars>
          <dgm:bulletEnabled val="1"/>
        </dgm:presLayoutVars>
      </dgm:prSet>
      <dgm:spPr/>
    </dgm:pt>
    <dgm:pt modelId="{57379BAF-B991-42F6-A34F-6A48E6D401ED}" type="pres">
      <dgm:prSet presAssocID="{A98DEA1E-7DA1-44C8-823D-2E8DCAA0B3EC}" presName="aSpace" presStyleCnt="0"/>
      <dgm:spPr/>
    </dgm:pt>
    <dgm:pt modelId="{ECE93F5B-1038-47F4-A9B3-281E1F7383BE}" type="pres">
      <dgm:prSet presAssocID="{13EDC944-50D2-4C62-AEBD-B459DE2FC22C}" presName="aNode" presStyleLbl="fgAcc1" presStyleIdx="2" presStyleCnt="3">
        <dgm:presLayoutVars>
          <dgm:bulletEnabled val="1"/>
        </dgm:presLayoutVars>
      </dgm:prSet>
      <dgm:spPr/>
    </dgm:pt>
    <dgm:pt modelId="{EAEB1237-B1D3-47B7-BD27-36CB7B3E6661}" type="pres">
      <dgm:prSet presAssocID="{13EDC944-50D2-4C62-AEBD-B459DE2FC22C}" presName="aSpace" presStyleCnt="0"/>
      <dgm:spPr/>
    </dgm:pt>
  </dgm:ptLst>
  <dgm:cxnLst>
    <dgm:cxn modelId="{10B9131D-A628-4C53-9A44-0681CCC21A3B}" type="presOf" srcId="{1B127A96-4F0D-4C6A-A2BC-5CA4DB2E44BF}" destId="{AD83BCDB-38BD-4D54-A9F5-4254E912A38A}" srcOrd="0" destOrd="0" presId="urn:microsoft.com/office/officeart/2005/8/layout/pyramid2"/>
    <dgm:cxn modelId="{165BB627-682C-4744-9E36-F64AFD19A981}" srcId="{1B127A96-4F0D-4C6A-A2BC-5CA4DB2E44BF}" destId="{1D148CB7-BA8F-46BA-B2FE-F8C86410BFB5}" srcOrd="0" destOrd="0" parTransId="{CF28D3CC-5B7B-4D48-A094-8950E568FECA}" sibTransId="{A8CFF749-E0F3-45AA-AF84-06C3F042489F}"/>
    <dgm:cxn modelId="{7BCE744A-E1C0-43D5-B75D-BAAC5019BC68}" srcId="{1B127A96-4F0D-4C6A-A2BC-5CA4DB2E44BF}" destId="{13EDC944-50D2-4C62-AEBD-B459DE2FC22C}" srcOrd="2" destOrd="0" parTransId="{F30B50BD-6D8C-4D8A-BA68-8E25E9C52826}" sibTransId="{27A0462F-D651-4356-843A-F437A647E422}"/>
    <dgm:cxn modelId="{C0129072-5360-4C29-9CAB-29825E283302}" type="presOf" srcId="{1D148CB7-BA8F-46BA-B2FE-F8C86410BFB5}" destId="{645F8858-98E3-48F8-BF9C-9807FB55764A}" srcOrd="0" destOrd="0" presId="urn:microsoft.com/office/officeart/2005/8/layout/pyramid2"/>
    <dgm:cxn modelId="{D7F5457A-A534-4195-B907-D3314BF7626E}" type="presOf" srcId="{A98DEA1E-7DA1-44C8-823D-2E8DCAA0B3EC}" destId="{836F06DA-B20D-4D6F-820C-76FB82CB15A2}" srcOrd="0" destOrd="0" presId="urn:microsoft.com/office/officeart/2005/8/layout/pyramid2"/>
    <dgm:cxn modelId="{8F0F3DAB-E099-43E3-B5B1-CC88F371933E}" type="presOf" srcId="{13EDC944-50D2-4C62-AEBD-B459DE2FC22C}" destId="{ECE93F5B-1038-47F4-A9B3-281E1F7383BE}" srcOrd="0" destOrd="0" presId="urn:microsoft.com/office/officeart/2005/8/layout/pyramid2"/>
    <dgm:cxn modelId="{FDC82EBF-BE15-4B41-9AF6-BF85499DBD0E}" srcId="{1B127A96-4F0D-4C6A-A2BC-5CA4DB2E44BF}" destId="{A98DEA1E-7DA1-44C8-823D-2E8DCAA0B3EC}" srcOrd="1" destOrd="0" parTransId="{08BEB2F1-49E1-477C-A528-B0AF67EDF6B1}" sibTransId="{D31321D5-8A2F-419D-BCEB-86D85396582C}"/>
    <dgm:cxn modelId="{5121F2B1-DA11-441D-9A33-A01C20CF0617}" type="presParOf" srcId="{AD83BCDB-38BD-4D54-A9F5-4254E912A38A}" destId="{019DE18C-AECA-40F6-A56A-C2CDF1113254}" srcOrd="0" destOrd="0" presId="urn:microsoft.com/office/officeart/2005/8/layout/pyramid2"/>
    <dgm:cxn modelId="{81384678-D7C2-4B09-AF2D-859E1F2AADDF}" type="presParOf" srcId="{AD83BCDB-38BD-4D54-A9F5-4254E912A38A}" destId="{0810D861-38E2-4BE1-B84B-BAD653921FAA}" srcOrd="1" destOrd="0" presId="urn:microsoft.com/office/officeart/2005/8/layout/pyramid2"/>
    <dgm:cxn modelId="{D2BAA627-05C1-4F19-8E62-FE7EC559E5A1}" type="presParOf" srcId="{0810D861-38E2-4BE1-B84B-BAD653921FAA}" destId="{645F8858-98E3-48F8-BF9C-9807FB55764A}" srcOrd="0" destOrd="0" presId="urn:microsoft.com/office/officeart/2005/8/layout/pyramid2"/>
    <dgm:cxn modelId="{106BF1E2-DD36-4FEE-96DF-EB2BB39F2C94}" type="presParOf" srcId="{0810D861-38E2-4BE1-B84B-BAD653921FAA}" destId="{5FEA6B97-B5D9-46BD-8013-83EFC3FFB7ED}" srcOrd="1" destOrd="0" presId="urn:microsoft.com/office/officeart/2005/8/layout/pyramid2"/>
    <dgm:cxn modelId="{60C4DF52-1008-46E5-8784-461CFE0E51F0}" type="presParOf" srcId="{0810D861-38E2-4BE1-B84B-BAD653921FAA}" destId="{836F06DA-B20D-4D6F-820C-76FB82CB15A2}" srcOrd="2" destOrd="0" presId="urn:microsoft.com/office/officeart/2005/8/layout/pyramid2"/>
    <dgm:cxn modelId="{99D47D97-D669-47C3-89AE-51CA892B2418}" type="presParOf" srcId="{0810D861-38E2-4BE1-B84B-BAD653921FAA}" destId="{57379BAF-B991-42F6-A34F-6A48E6D401ED}" srcOrd="3" destOrd="0" presId="urn:microsoft.com/office/officeart/2005/8/layout/pyramid2"/>
    <dgm:cxn modelId="{95D66E13-4280-4A79-A8B3-B708D3683003}" type="presParOf" srcId="{0810D861-38E2-4BE1-B84B-BAD653921FAA}" destId="{ECE93F5B-1038-47F4-A9B3-281E1F7383BE}" srcOrd="4" destOrd="0" presId="urn:microsoft.com/office/officeart/2005/8/layout/pyramid2"/>
    <dgm:cxn modelId="{C22AE476-077B-45E3-8FD3-271B3DD3736D}" type="presParOf" srcId="{0810D861-38E2-4BE1-B84B-BAD653921FAA}" destId="{EAEB1237-B1D3-47B7-BD27-36CB7B3E6661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F3BFDD-0472-46AF-9091-BEECF1ADF83E}">
      <dsp:nvSpPr>
        <dsp:cNvPr id="0" name=""/>
        <dsp:cNvSpPr/>
      </dsp:nvSpPr>
      <dsp:spPr>
        <a:xfrm>
          <a:off x="0" y="2925348"/>
          <a:ext cx="8915400" cy="96016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/>
            <a:t>Regional Patterns: Focusing on Tier 1 economic hubs to identify growth trends.</a:t>
          </a:r>
        </a:p>
      </dsp:txBody>
      <dsp:txXfrm>
        <a:off x="0" y="2925348"/>
        <a:ext cx="8915400" cy="960164"/>
      </dsp:txXfrm>
    </dsp:sp>
    <dsp:sp modelId="{D31A0174-3B23-4BAC-8387-9BE29D044EAD}">
      <dsp:nvSpPr>
        <dsp:cNvPr id="0" name=""/>
        <dsp:cNvSpPr/>
      </dsp:nvSpPr>
      <dsp:spPr>
        <a:xfrm rot="10800000">
          <a:off x="0" y="1463017"/>
          <a:ext cx="8915400" cy="1476733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/>
            <a:t>Find the Pricing 'Sweet Spot': Correlating nightly rates with guest satisfaction.</a:t>
          </a:r>
        </a:p>
      </dsp:txBody>
      <dsp:txXfrm rot="10800000">
        <a:off x="0" y="1463017"/>
        <a:ext cx="8915400" cy="959537"/>
      </dsp:txXfrm>
    </dsp:sp>
    <dsp:sp modelId="{5B88060D-BED3-4CF5-A448-AB8EF79B26D6}">
      <dsp:nvSpPr>
        <dsp:cNvPr id="0" name=""/>
        <dsp:cNvSpPr/>
      </dsp:nvSpPr>
      <dsp:spPr>
        <a:xfrm rot="10800000">
          <a:off x="0" y="686"/>
          <a:ext cx="8915400" cy="1476733"/>
        </a:xfrm>
        <a:prstGeom prst="upArrowCallou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200" kern="1200" dirty="0" err="1"/>
            <a:t>Analyze</a:t>
          </a:r>
          <a:r>
            <a:rPr lang="en-IN" sz="2200" kern="1200" dirty="0"/>
            <a:t> Customer Sentiment: Identifying regional values (service vs. cleanliness).</a:t>
          </a:r>
        </a:p>
      </dsp:txBody>
      <dsp:txXfrm rot="10800000">
        <a:off x="0" y="686"/>
        <a:ext cx="8915400" cy="9595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7C7081-F2F2-487B-82C2-317F2066FAE4}">
      <dsp:nvSpPr>
        <dsp:cNvPr id="0" name=""/>
        <dsp:cNvSpPr/>
      </dsp:nvSpPr>
      <dsp:spPr>
        <a:xfrm rot="10800000">
          <a:off x="1763120" y="2215"/>
          <a:ext cx="5928741" cy="107916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75881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Python &amp; Selenium: Custom scraper built to handle 'lazy loading' and AJAX content.</a:t>
          </a:r>
        </a:p>
      </dsp:txBody>
      <dsp:txXfrm rot="10800000">
        <a:off x="2032911" y="2215"/>
        <a:ext cx="5658950" cy="1079163"/>
      </dsp:txXfrm>
    </dsp:sp>
    <dsp:sp modelId="{422BDA48-4E1F-499C-A25B-E1CF9C58349B}">
      <dsp:nvSpPr>
        <dsp:cNvPr id="0" name=""/>
        <dsp:cNvSpPr/>
      </dsp:nvSpPr>
      <dsp:spPr>
        <a:xfrm>
          <a:off x="1223538" y="2215"/>
          <a:ext cx="1079163" cy="1079163"/>
        </a:xfrm>
        <a:prstGeom prst="ellipse">
          <a:avLst/>
        </a:prstGeom>
        <a:blipFill>
          <a:blip xmlns:r="http://schemas.openxmlformats.org/officeDocument/2006/relationships" r:embed="rId1"/>
          <a:srcRect/>
          <a:stretch>
            <a:fillRect l="-28000" r="-28000"/>
          </a:stretch>
        </a:blipFill>
        <a:ln w="95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D87C9B61-6A06-49AC-BFFF-A82919C403AB}">
      <dsp:nvSpPr>
        <dsp:cNvPr id="0" name=""/>
        <dsp:cNvSpPr/>
      </dsp:nvSpPr>
      <dsp:spPr>
        <a:xfrm rot="10800000">
          <a:off x="1763120" y="1403518"/>
          <a:ext cx="5928741" cy="107916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75881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Data Cleaning: Pandas used for snake_case standardization and duplicate removal.</a:t>
          </a:r>
        </a:p>
      </dsp:txBody>
      <dsp:txXfrm rot="10800000">
        <a:off x="2032911" y="1403518"/>
        <a:ext cx="5658950" cy="1079163"/>
      </dsp:txXfrm>
    </dsp:sp>
    <dsp:sp modelId="{512C610F-88E7-4BE8-AEBB-E3E53211DB34}">
      <dsp:nvSpPr>
        <dsp:cNvPr id="0" name=""/>
        <dsp:cNvSpPr/>
      </dsp:nvSpPr>
      <dsp:spPr>
        <a:xfrm>
          <a:off x="1223538" y="1403518"/>
          <a:ext cx="1079163" cy="1079163"/>
        </a:xfrm>
        <a:prstGeom prst="ellipse">
          <a:avLst/>
        </a:prstGeom>
        <a:blipFill>
          <a:blip xmlns:r="http://schemas.openxmlformats.org/officeDocument/2006/relationships" r:embed="rId2"/>
          <a:srcRect/>
          <a:stretch>
            <a:fillRect l="-39000" r="-39000"/>
          </a:stretch>
        </a:blipFill>
        <a:ln w="95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7A23AADB-077A-47A0-B4BB-6F4B0B2839F1}">
      <dsp:nvSpPr>
        <dsp:cNvPr id="0" name=""/>
        <dsp:cNvSpPr/>
      </dsp:nvSpPr>
      <dsp:spPr>
        <a:xfrm rot="10800000">
          <a:off x="1763120" y="2804820"/>
          <a:ext cx="5928741" cy="1079163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75881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100" kern="1200"/>
            <a:t>Scale: Data scraped for 8 major cities including Mumbai, Bengaluru, and Delhi.</a:t>
          </a:r>
        </a:p>
      </dsp:txBody>
      <dsp:txXfrm rot="10800000">
        <a:off x="2032911" y="2804820"/>
        <a:ext cx="5658950" cy="1079163"/>
      </dsp:txXfrm>
    </dsp:sp>
    <dsp:sp modelId="{264D55BB-FD04-43A1-818A-B2F56D7AE1F1}">
      <dsp:nvSpPr>
        <dsp:cNvPr id="0" name=""/>
        <dsp:cNvSpPr/>
      </dsp:nvSpPr>
      <dsp:spPr>
        <a:xfrm>
          <a:off x="1223538" y="2804820"/>
          <a:ext cx="1079163" cy="1079163"/>
        </a:xfrm>
        <a:prstGeom prst="ellipse">
          <a:avLst/>
        </a:prstGeom>
        <a:blipFill>
          <a:blip xmlns:r="http://schemas.openxmlformats.org/officeDocument/2006/relationships" r:embed="rId3"/>
          <a:srcRect/>
          <a:stretch>
            <a:fillRect l="-25000" r="-25000"/>
          </a:stretch>
        </a:blipFill>
        <a:ln w="95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DE18C-AECA-40F6-A56A-C2CDF1113254}">
      <dsp:nvSpPr>
        <dsp:cNvPr id="0" name=""/>
        <dsp:cNvSpPr/>
      </dsp:nvSpPr>
      <dsp:spPr>
        <a:xfrm>
          <a:off x="2223135" y="0"/>
          <a:ext cx="3886200" cy="3886200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5F8858-98E3-48F8-BF9C-9807FB55764A}">
      <dsp:nvSpPr>
        <dsp:cNvPr id="0" name=""/>
        <dsp:cNvSpPr/>
      </dsp:nvSpPr>
      <dsp:spPr>
        <a:xfrm>
          <a:off x="4166235" y="390707"/>
          <a:ext cx="2526030" cy="91993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Minimum: 544 INR | Maximum: 70,622 INR.</a:t>
          </a:r>
        </a:p>
      </dsp:txBody>
      <dsp:txXfrm>
        <a:off x="4211143" y="435615"/>
        <a:ext cx="2436214" cy="830120"/>
      </dsp:txXfrm>
    </dsp:sp>
    <dsp:sp modelId="{836F06DA-B20D-4D6F-820C-76FB82CB15A2}">
      <dsp:nvSpPr>
        <dsp:cNvPr id="0" name=""/>
        <dsp:cNvSpPr/>
      </dsp:nvSpPr>
      <dsp:spPr>
        <a:xfrm>
          <a:off x="4166235" y="1425635"/>
          <a:ext cx="2526030" cy="91993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Average Market Price: 3,841 INR.</a:t>
          </a:r>
        </a:p>
      </dsp:txBody>
      <dsp:txXfrm>
        <a:off x="4211143" y="1470543"/>
        <a:ext cx="2436214" cy="830120"/>
      </dsp:txXfrm>
    </dsp:sp>
    <dsp:sp modelId="{ECE93F5B-1038-47F4-A9B3-281E1F7383BE}">
      <dsp:nvSpPr>
        <dsp:cNvPr id="0" name=""/>
        <dsp:cNvSpPr/>
      </dsp:nvSpPr>
      <dsp:spPr>
        <a:xfrm>
          <a:off x="4166235" y="2460564"/>
          <a:ext cx="2526030" cy="91993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500" kern="1200"/>
            <a:t>Median Price: 2,379 INR (indicates a heavily budget-skewed market).</a:t>
          </a:r>
        </a:p>
      </dsp:txBody>
      <dsp:txXfrm>
        <a:off x="4211143" y="2505472"/>
        <a:ext cx="2436214" cy="8301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29BA-E409-478B-A924-66D129304DA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A5AA171-BB67-4CFD-81C7-1FB98CA8E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738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29BA-E409-478B-A924-66D129304DA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AA171-BB67-4CFD-81C7-1FB98CA8E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015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29BA-E409-478B-A924-66D129304DA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A5AA171-BB67-4CFD-81C7-1FB98CA8E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0558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29BA-E409-478B-A924-66D129304DA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A5AA171-BB67-4CFD-81C7-1FB98CA8E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2126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29BA-E409-478B-A924-66D129304DA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A5AA171-BB67-4CFD-81C7-1FB98CA8E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7779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29BA-E409-478B-A924-66D129304DA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AA171-BB67-4CFD-81C7-1FB98CA8E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192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29BA-E409-478B-A924-66D129304DA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AA171-BB67-4CFD-81C7-1FB98CA8E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971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29BA-E409-478B-A924-66D129304DA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AA171-BB67-4CFD-81C7-1FB98CA8E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699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29BA-E409-478B-A924-66D129304DA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A5AA171-BB67-4CFD-81C7-1FB98CA8E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773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29BA-E409-478B-A924-66D129304DA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A5AA171-BB67-4CFD-81C7-1FB98CA8E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925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29BA-E409-478B-A924-66D129304DA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A5AA171-BB67-4CFD-81C7-1FB98CA8E41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5518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29BA-E409-478B-A924-66D129304DA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A5AA171-BB67-4CFD-81C7-1FB98CA8E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2249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29BA-E409-478B-A924-66D129304DA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A5AA171-BB67-4CFD-81C7-1FB98CA8E417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864864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29BA-E409-478B-A924-66D129304DA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A5AA171-BB67-4CFD-81C7-1FB98CA8E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9732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29BA-E409-478B-A924-66D129304DA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AA171-BB67-4CFD-81C7-1FB98CA8E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41316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29BA-E409-478B-A924-66D129304DA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AA171-BB67-4CFD-81C7-1FB98CA8E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9145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61B51-ACC9-F0DC-63DD-9635B514F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9348EA-EDE5-330A-8BD9-6DCF2A2CF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AE55B3-A14D-4F3A-A70C-C0E1E4184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729BA-E409-478B-A924-66D129304DA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C012D-D4A5-B14B-43C6-3C7CE78CC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3934E-2105-88D0-D261-5F5E8EC41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5AA171-BB67-4CFD-81C7-1FB98CA8E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008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729BA-E409-478B-A924-66D129304DA6}" type="datetimeFigureOut">
              <a:rPr lang="en-IN" smtClean="0"/>
              <a:t>08-02-2026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A5AA171-BB67-4CFD-81C7-1FB98CA8E4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794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22F3F-4FBF-023B-9AA6-18E99AE6B3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Optimizing Hospitality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84ABD-D974-1489-1BC9-53F4A1DAE4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Data-Driven Insights into India's Hotel Economy</a:t>
            </a:r>
          </a:p>
          <a:p>
            <a:r>
              <a:rPr lang="en-US" dirty="0"/>
              <a:t>Project Overview &amp;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824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BA3B7-756F-B4E5-94B0-16070918E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Project Objectives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09378AE-608B-F4E9-C245-FF64A7F1EEFB}"/>
              </a:ext>
            </a:extLst>
          </p:cNvPr>
          <p:cNvGraphicFramePr/>
          <p:nvPr/>
        </p:nvGraphicFramePr>
        <p:xfrm>
          <a:off x="2589212" y="2133600"/>
          <a:ext cx="8915400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79187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51D68-BCC6-5F29-7A23-5E20AC71E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 Acquisition &amp; Preparation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D52296A4-7AB0-F254-821A-D704BC8548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0750915"/>
              </p:ext>
            </p:extLst>
          </p:nvPr>
        </p:nvGraphicFramePr>
        <p:xfrm>
          <a:off x="2589212" y="2133600"/>
          <a:ext cx="8915400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58512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029D6-36F1-5AE5-CD64-659DCBDE8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Dataset Scale &amp; Dimensions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E8159-51EA-0D44-F87B-DF6553DE0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1494503"/>
            <a:ext cx="8915400" cy="4525297"/>
          </a:xfrm>
        </p:spPr>
        <p:txBody>
          <a:bodyPr/>
          <a:lstStyle/>
          <a:p>
            <a:r>
              <a:rPr lang="en-US" dirty="0"/>
              <a:t>• Total Records: 6,555 cleaned hotel entries.</a:t>
            </a:r>
          </a:p>
          <a:p>
            <a:r>
              <a:rPr lang="en-US" dirty="0"/>
              <a:t>• Total Market Reviews: 11 Million+ records analyzed.</a:t>
            </a:r>
            <a:endParaRPr lang="en-IN" dirty="0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2C3FA26-BC81-8FEC-57E0-3C2D492386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78007384"/>
              </p:ext>
            </p:extLst>
          </p:nvPr>
        </p:nvGraphicFramePr>
        <p:xfrm>
          <a:off x="2032000" y="2418735"/>
          <a:ext cx="8016568" cy="371959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665606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25109-D4CA-34F9-C6DA-211197BD59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Regional Market Share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26142B-8086-1C52-7869-417370B6A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• Dominance: Top 3 cities (Bengaluru, Delhi, Mumbai) control &gt;50% of inventory.</a:t>
            </a:r>
          </a:p>
          <a:p>
            <a:r>
              <a:rPr lang="en-IN"/>
              <a:t>• Emerging Hubs: Chennai, Hyderabad, and Kolkata represent strong secondary tiers.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1F70553C-0EE3-A5C0-18EE-3EB6B6143A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29246208"/>
              </p:ext>
            </p:extLst>
          </p:nvPr>
        </p:nvGraphicFramePr>
        <p:xfrm>
          <a:off x="2032000" y="3428999"/>
          <a:ext cx="8128000" cy="30799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59991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6FABF-E21D-B8D5-717B-EDC85C9AA1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Nightly Rate Statistics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53C2AADF-0A1C-2F18-6B95-D14111301F22}"/>
              </a:ext>
            </a:extLst>
          </p:cNvPr>
          <p:cNvGraphicFramePr/>
          <p:nvPr/>
        </p:nvGraphicFramePr>
        <p:xfrm>
          <a:off x="2589212" y="2133600"/>
          <a:ext cx="8915400" cy="3886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47707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7276-3D20-ED23-4E16-CF9C7031C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Average Price per City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B9FA157-9000-7807-E7B0-F614F39CB92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81002087"/>
              </p:ext>
            </p:extLst>
          </p:nvPr>
        </p:nvGraphicFramePr>
        <p:xfrm>
          <a:off x="2032000" y="1632155"/>
          <a:ext cx="8128000" cy="4506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29316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463B9-3A7A-C2B9-442A-9A9766638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Guest Rating Trends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D9C4C-235F-D015-C043-315013BC6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Leaders: Bengaluru (8.1) and Pune (8.0) maintain the highest standards.</a:t>
            </a:r>
          </a:p>
          <a:p>
            <a:r>
              <a:rPr lang="en-US" dirty="0"/>
              <a:t>Service Gaps: Mumbai (7.6) and Chennai (7.7) show the lowest satisfaction scores.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17233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0B823-912E-E4AE-336D-2F39D9AB4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Value Analysis (Price vs. Rating)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0AA01C-B3FF-B8B3-7C83-3E9FB91CAC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Value: Bunk Hostel Delhi (8.7 rating at 544 INR).</a:t>
            </a:r>
          </a:p>
          <a:p>
            <a:r>
              <a:rPr lang="en-US" dirty="0"/>
              <a:t>Worst Value: Liberty Ahmedabad (5.9 rating at 17,636 INR).</a:t>
            </a:r>
          </a:p>
          <a:p>
            <a:r>
              <a:rPr lang="en-US" dirty="0"/>
              <a:t>Service Issues: High-visibility hotels (&gt;1,000 reviews) failing to scale quality.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055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CE7A-7147-279B-B926-EC356BA14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Digital Engagement Gap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E779B-92A1-CA35-AF47-10B9A5D55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1622323"/>
            <a:ext cx="9980612" cy="4397477"/>
          </a:xfrm>
        </p:spPr>
        <p:txBody>
          <a:bodyPr/>
          <a:lstStyle/>
          <a:p>
            <a:r>
              <a:rPr lang="en-US" dirty="0"/>
              <a:t>• Finding: 1,945 hotels (nearly 30% of dataset) have no rating.</a:t>
            </a:r>
          </a:p>
          <a:p>
            <a:r>
              <a:rPr lang="en-US" dirty="0"/>
              <a:t>• Impact: Unrated hotels average 2,577 INR vs 4,375 INR for rated hotels.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D494B1-0EC0-3095-FC31-76937C22DFAC}"/>
              </a:ext>
            </a:extLst>
          </p:cNvPr>
          <p:cNvSpPr/>
          <p:nvPr/>
        </p:nvSpPr>
        <p:spPr>
          <a:xfrm>
            <a:off x="2428568" y="3065206"/>
            <a:ext cx="3342967" cy="25400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30% MARKET GAP:</a:t>
            </a:r>
          </a:p>
          <a:p>
            <a:pPr algn="ctr"/>
            <a:r>
              <a:rPr lang="en-IN"/>
              <a:t>Potential for Digital Growth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99F3FAC-A255-9F37-4CC3-9758FDAA3F0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4160796"/>
              </p:ext>
            </p:extLst>
          </p:nvPr>
        </p:nvGraphicFramePr>
        <p:xfrm>
          <a:off x="6420468" y="2694040"/>
          <a:ext cx="5084144" cy="34442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046205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EAC82-54A2-41DA-7706-B149ECC91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Power BI: National KPI Dashboard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D16BC2-E8D0-E605-2C25-66FB76D894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89212" y="1504335"/>
            <a:ext cx="8915400" cy="4515465"/>
          </a:xfrm>
        </p:spPr>
        <p:txBody>
          <a:bodyPr/>
          <a:lstStyle/>
          <a:p>
            <a:r>
              <a:rPr lang="en-US" dirty="0"/>
              <a:t>• Page 1: Executive summary of 6,555 hotels and 11M reviews.</a:t>
            </a:r>
          </a:p>
          <a:p>
            <a:r>
              <a:rPr lang="en-US" dirty="0"/>
              <a:t>• Page 2: Tier 1 drill-down for Mumbai, Bengaluru, and Delhi.</a:t>
            </a:r>
          </a:p>
          <a:p>
            <a:r>
              <a:rPr lang="en-US" dirty="0"/>
              <a:t>• Dynamic Filtering: Real-time price vs. rating correlation analysis.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567D38-5034-F31D-13CE-1F8BC52F7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0670" y="3333135"/>
            <a:ext cx="4444181" cy="2831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3FC1383-FFE3-AB75-F6D3-6E08BC7073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212" y="3333135"/>
            <a:ext cx="4477023" cy="2831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522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F41F2-3F9E-231A-E06A-0D3180003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538316"/>
          </a:xfrm>
        </p:spPr>
        <p:txBody>
          <a:bodyPr>
            <a:normAutofit fontScale="90000"/>
          </a:bodyPr>
          <a:lstStyle/>
          <a:p>
            <a:r>
              <a:rPr lang="en-IN" dirty="0"/>
              <a:t>Price vs. Rating Correlation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:a16="http://schemas.microsoft.com/office/drawing/2014/main" id="{955B573E-176F-55CE-F84B-599047084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58297" y="1366685"/>
            <a:ext cx="9646315" cy="538316"/>
          </a:xfrm>
        </p:spPr>
        <p:txBody>
          <a:bodyPr/>
          <a:lstStyle/>
          <a:p>
            <a:endParaRPr lang="en-IN" dirty="0"/>
          </a:p>
        </p:txBody>
      </p:sp>
      <p:graphicFrame>
        <p:nvGraphicFramePr>
          <p:cNvPr id="7" name="chart 6" hidden="1">
            <a:extLst>
              <a:ext uri="{FF2B5EF4-FFF2-40B4-BE49-F238E27FC236}">
                <a16:creationId xmlns:a16="http://schemas.microsoft.com/office/drawing/2014/main" id="{5DF43E0A-AE02-BEFF-A9A6-6F208CAACE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135767"/>
              </p:ext>
            </p:extLst>
          </p:nvPr>
        </p:nvGraphicFramePr>
        <p:xfrm>
          <a:off x="2032000" y="719666"/>
          <a:ext cx="9107948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D04B423D-52BF-E7E0-B305-C1BC8E64B5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411" y="1720646"/>
            <a:ext cx="9646315" cy="471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380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B9593-C845-FE0E-E7AF-625F17EE5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Recommendation: Bridge the Digital Gap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3CF0DD-0F10-1470-7861-5A526443AC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Goal: Transition 'No Rating' hotels to 'Rated' status.</a:t>
            </a:r>
          </a:p>
          <a:p>
            <a:r>
              <a:rPr lang="en-US"/>
              <a:t>• Action: Prioritize guest engagement campaigns on booking platforms.</a:t>
            </a:r>
          </a:p>
          <a:p>
            <a:r>
              <a:rPr lang="en-US"/>
              <a:t>• Result: Historically increases booking confidence and allows for higher pricing.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6023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E480E-44C5-3140-174A-869C91D46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Recommendation: Service Quality Audits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BC6AC4-7696-C122-7224-91037C8BC9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• Target: Mumbai and Chennai (Lowest Ratings).</a:t>
            </a:r>
          </a:p>
          <a:p>
            <a:r>
              <a:rPr lang="en-IN"/>
              <a:t>• Focus: High-demand regions where slight quality improvements justify luxury pricing.</a:t>
            </a:r>
          </a:p>
          <a:p>
            <a:r>
              <a:rPr lang="en-IN"/>
              <a:t>• Strategy: Differentiate via niche offerings in saturated Tier 1 markets.</a:t>
            </a:r>
          </a:p>
        </p:txBody>
      </p:sp>
    </p:spTree>
    <p:extLst>
      <p:ext uri="{BB962C8B-B14F-4D97-AF65-F5344CB8AC3E}">
        <p14:creationId xmlns:p14="http://schemas.microsoft.com/office/powerpoint/2010/main" val="1253468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CB5BE-C3CC-EA89-BC34-1A84158EB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Final Insights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0640ED-650D-09EC-99DB-322C7BF52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• Data-driven roadmaps are required to compete in India's diverse market.</a:t>
            </a:r>
          </a:p>
          <a:p>
            <a:r>
              <a:rPr lang="en-US"/>
              <a:t>• The 'Sweet Spot' lies in Mid-range hotels maintaining an 8+ rating.</a:t>
            </a:r>
          </a:p>
          <a:p>
            <a:r>
              <a:rPr lang="en-US"/>
              <a:t>• Future Growth: Tier 1 cities remain the backbone of hospitality inventory.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86268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87</TotalTime>
  <Words>511</Words>
  <Application>Microsoft Office PowerPoint</Application>
  <PresentationFormat>Widescreen</PresentationFormat>
  <Paragraphs>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Wisp</vt:lpstr>
      <vt:lpstr>Optimizing Hospitality</vt:lpstr>
      <vt:lpstr>Project Objectives</vt:lpstr>
      <vt:lpstr>Data Acquisition &amp; Preparation</vt:lpstr>
      <vt:lpstr>Dataset Scale &amp; Dimensions</vt:lpstr>
      <vt:lpstr>Regional Market Share</vt:lpstr>
      <vt:lpstr>Nightly Rate Statistics</vt:lpstr>
      <vt:lpstr>Average Price per City</vt:lpstr>
      <vt:lpstr>Guest Rating Trends</vt:lpstr>
      <vt:lpstr>Value Analysis (Price vs. Rating)</vt:lpstr>
      <vt:lpstr>The Digital Engagement Gap</vt:lpstr>
      <vt:lpstr>Power BI: National KPI Dashboard</vt:lpstr>
      <vt:lpstr>Price vs. Rating Correlation</vt:lpstr>
      <vt:lpstr>Recommendation: Bridge the Digital Gap</vt:lpstr>
      <vt:lpstr>Recommendation: Service Quality Audits</vt:lpstr>
      <vt:lpstr>Final Insights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maheshtoxic44@outlook.com</dc:creator>
  <cp:lastModifiedBy>maheshtoxic44@outlook.com</cp:lastModifiedBy>
  <cp:revision>5</cp:revision>
  <dcterms:created xsi:type="dcterms:W3CDTF">2026-02-07T03:56:40Z</dcterms:created>
  <dcterms:modified xsi:type="dcterms:W3CDTF">2026-02-08T04:28:22Z</dcterms:modified>
</cp:coreProperties>
</file>